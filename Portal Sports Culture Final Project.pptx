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lus Jakarta Sans ExtraBold"/>
      <p:bold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lus Jakarta Sans"/>
      <p:regular r:id="rId27"/>
      <p:bold r:id="rId28"/>
      <p:italic r:id="rId29"/>
      <p:boldItalic r:id="rId30"/>
    </p:embeddedFont>
    <p:embeddedFont>
      <p:font typeface="Inter ExtraBold"/>
      <p:bold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PlusJakartaSansExtraBold-boldItalic.fntdata"/><Relationship Id="rId21" Type="http://schemas.openxmlformats.org/officeDocument/2006/relationships/font" Target="fonts/PlusJakartaSansExtraBold-bold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.fntdata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5b4b5a89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85b4b5a89_2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LjGQXASJKd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0.png"/><Relationship Id="rId13" Type="http://schemas.openxmlformats.org/officeDocument/2006/relationships/image" Target="../media/image19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3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361509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5A1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ENGLISH FINAL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20436" y="2790134"/>
            <a:ext cx="1120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 u="none" cap="none" strike="noStrike">
                <a:solidFill>
                  <a:srgbClr val="0F513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SPORT CULTURE</a:t>
            </a:r>
            <a:endParaRPr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744015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A Cross-Cultural Study of Individual and National Sports Identity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6132900"/>
            <a:ext cx="1047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Final Presentation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9052" y="6134111"/>
            <a:ext cx="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868025" y="6134100"/>
            <a:ext cx="656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6134100"/>
            <a:ext cx="11883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78716C"/>
                </a:solidFill>
                <a:highlight>
                  <a:srgbClr val="FAFAF9"/>
                </a:highlight>
                <a:latin typeface="Inter"/>
                <a:ea typeface="Inter"/>
                <a:cs typeface="Inter"/>
                <a:sym typeface="Inter"/>
              </a:rPr>
              <a:t>Final Presentation</a:t>
            </a:r>
            <a:endParaRPr sz="1000">
              <a:solidFill>
                <a:srgbClr val="78716C"/>
              </a:solidFill>
              <a:highlight>
                <a:srgbClr val="FAFAF9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78716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839450" y="6134100"/>
            <a:ext cx="669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Slide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 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900"/>
              </a:spcAft>
              <a:buSzPts val="1100"/>
              <a:buNone/>
            </a:pPr>
            <a:r>
              <a:rPr b="1" lang="en-US" sz="2850">
                <a:solidFill>
                  <a:srgbClr val="0F51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STREET INTERVIEWS VIDEO</a:t>
            </a:r>
            <a:endParaRPr sz="2850">
              <a:solidFill>
                <a:srgbClr val="0F5132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62000" y="571500"/>
            <a:ext cx="57300" cy="3981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9052" y="6134111"/>
            <a:ext cx="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237700" y="3110700"/>
            <a:ext cx="77166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https://www.youtube.com/watch?v=LjGQXASJKd0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872025" y="2878603"/>
            <a:ext cx="254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DCD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BACKGROUND &amp; SCOPE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765583" y="3195953"/>
            <a:ext cx="666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AFAF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STREET INTERVIEWS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0" y="3833722"/>
            <a:ext cx="762000" cy="381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70645"/>
            <a:ext cx="51435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0645"/>
            <a:ext cx="51435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62000" y="6134100"/>
            <a:ext cx="823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Methodology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839450" y="6134100"/>
            <a:ext cx="669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Slide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4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 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04900" y="4585245"/>
            <a:ext cx="445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513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Focus: Personal Identity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29400" y="4585245"/>
            <a:ext cx="445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513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Focus: Societal Impact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04900" y="2432599"/>
            <a:ext cx="993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5A1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CATEGORY 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04900" y="269929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51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 Routines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04900" y="3127920"/>
            <a:ext cx="44577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Understanding how individuals incorporate sports into their busy schedules, including their favorite sports, recent events they follow, and weekly exercise frequency.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29400" y="2432601"/>
            <a:ext cx="993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5A1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CATEGORY B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629400" y="2699295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51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National Sports Culture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29400" y="3127920"/>
            <a:ext cx="44577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Analyzing what makes a sport popular in the interviewee's home country. We explore infrastructure (like stadiums), funding, and local traditions that shape sports habits.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513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CORE INTERVIEW STRUCTURE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9052" y="6134111"/>
            <a:ext cx="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357800" y="2852097"/>
            <a:ext cx="15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DCD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CASE STUDY 1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280648" y="3167278"/>
            <a:ext cx="563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UKRAINE &amp; CZECHIA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0" y="3795209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80145"/>
            <a:ext cx="51435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762000" y="6134100"/>
            <a:ext cx="1190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Interviewee 1 Profile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0839450" y="6134100"/>
            <a:ext cx="691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Slide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 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62000" y="1880145"/>
            <a:ext cx="5400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Ukrainian Perspective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2308770"/>
            <a:ext cx="51435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The interviewee is an avid badminton player, playing 3 times a week, heavily influenced by Taiwanese friends who adore the sport.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95375" y="3227933"/>
            <a:ext cx="48101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5132"/>
                </a:solidFill>
                <a:latin typeface="Inter"/>
                <a:ea typeface="Inter"/>
                <a:cs typeface="Inter"/>
                <a:sym typeface="Inter"/>
              </a:rPr>
              <a:t>Ukraine's National Sport:</a:t>
            </a:r>
            <a:r>
              <a:rPr b="0" i="0" lang="en-US" sz="13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Football dominates national popularity and public interest.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095375" y="3879205"/>
            <a:ext cx="4810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5132"/>
                </a:solidFill>
                <a:latin typeface="Inter"/>
                <a:ea typeface="Inter"/>
                <a:cs typeface="Inter"/>
                <a:sym typeface="Inter"/>
              </a:rPr>
              <a:t>Czechia's</a:t>
            </a:r>
            <a:r>
              <a:rPr b="1" i="0" lang="en-US" sz="1350" u="none" cap="none" strike="noStrike">
                <a:solidFill>
                  <a:srgbClr val="0F5132"/>
                </a:solidFill>
                <a:latin typeface="Inter"/>
                <a:ea typeface="Inter"/>
                <a:cs typeface="Inter"/>
                <a:sym typeface="Inter"/>
              </a:rPr>
              <a:t> Climbing Trend:</a:t>
            </a:r>
            <a:r>
              <a:rPr b="0" i="0" lang="en-US" sz="13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Climbing and bouldering (both indoor and natural rock walls) are exceptionally popular.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95375" y="4530476"/>
            <a:ext cx="48101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5132"/>
                </a:solidFill>
                <a:latin typeface="Inter"/>
                <a:ea typeface="Inter"/>
                <a:cs typeface="Inter"/>
                <a:sym typeface="Inter"/>
              </a:rPr>
              <a:t>Individual vs. National:</a:t>
            </a:r>
            <a:r>
              <a:rPr b="0" i="0" lang="en-US" sz="135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 While his favorite is badminton, it is a niche sport in Ukraine.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612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125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6381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513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BADMINTON &amp; CLIMBING CULTURE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5851" y="1844026"/>
            <a:ext cx="5244783" cy="350123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9052" y="6134111"/>
            <a:ext cx="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357800" y="2852097"/>
            <a:ext cx="15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DCD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CASE STUDY 2</a:t>
            </a:r>
            <a:endParaRPr sz="1650">
              <a:solidFill>
                <a:srgbClr val="FFDCD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 rot="-366">
            <a:off x="3280701" y="3167252"/>
            <a:ext cx="563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200">
                <a:solidFill>
                  <a:srgbClr val="FAFAF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GERMANY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 rot="6767">
            <a:off x="5716591" y="3795127"/>
            <a:ext cx="762001" cy="38100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5943600"/>
            <a:ext cx="476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Case Study 2 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Portal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 Slide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8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 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904875" y="762000"/>
            <a:ext cx="4850606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513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BASKETBALL &amp; YOGA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762000" y="762000"/>
            <a:ext cx="57150" cy="398115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1445865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5A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German Perspective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62000" y="180781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The interviewee is an office worker who uses yoga and "freeletics" in the morning and evening to maintain health and relieve posture stress.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62000" y="260791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Personal Pick:</a:t>
            </a:r>
            <a:r>
              <a:rPr b="0" i="0" lang="en-US" sz="1200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 He prefers Basketball because it is "fast and dynamic," unlike football, which can be boring to watch for 90 minutes.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62000" y="3408015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Football Hegemony:</a:t>
            </a:r>
            <a:r>
              <a:rPr b="0" i="0" lang="en-US" sz="1200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 Every village in Germany has a football pitch, and it is where almost all sports funding goes.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13508"/>
            <a:ext cx="339729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113508"/>
            <a:ext cx="339729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113508"/>
            <a:ext cx="339729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762000" y="6134100"/>
            <a:ext cx="971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Core Takeaways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0839450" y="6134100"/>
            <a:ext cx="666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Slide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9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 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/>
          </a:p>
        </p:txBody>
      </p:sp>
      <p:pic>
        <p:nvPicPr>
          <p:cNvPr descr="image.png" id="195" name="Google Shape;19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40878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057275" y="3266033"/>
            <a:ext cx="17402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51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Funding Rules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057275" y="3694658"/>
            <a:ext cx="280674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In Europe, most financial resources and public infrastructure (fields, clubs) are heavily concentrated on Football.</a:t>
            </a:r>
            <a:endParaRPr/>
          </a:p>
        </p:txBody>
      </p:sp>
      <p:pic>
        <p:nvPicPr>
          <p:cNvPr descr="image.png" id="198" name="Google Shape;19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2699" y="240878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692699" y="3266033"/>
            <a:ext cx="23602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51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vs. Static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692699" y="3694658"/>
            <a:ext cx="280674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There is a strong personal preference for fast-paced, high-action sports (like basketball) over traditional slow sports.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8124" y="240878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8328124" y="3266033"/>
            <a:ext cx="21602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51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 Wellness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328124" y="3694658"/>
            <a:ext cx="280674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4403C"/>
                </a:solidFill>
                <a:latin typeface="Inter"/>
                <a:ea typeface="Inter"/>
                <a:cs typeface="Inter"/>
                <a:sym typeface="Inter"/>
              </a:rPr>
              <a:t>Yoga and functional bodyweight training are increasingly used as therapeutic habits to combat sedentary desk work.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81112" y="2570708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54624" y="257070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66236" y="2570708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513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KEY INTERCULTURAL TAKEAWAYS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9052" y="6134111"/>
            <a:ext cx="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10820400" y="6134100"/>
            <a:ext cx="688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Slide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10 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3925728" y="3014663"/>
            <a:ext cx="434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F513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THANK YOU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029075" y="4057650"/>
            <a:ext cx="41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Presented by </a:t>
            </a:r>
            <a:r>
              <a:rPr b="1" i="0" lang="en-US" sz="1350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Port</a:t>
            </a:r>
            <a:r>
              <a:rPr b="1" lang="en-US" sz="1350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b="1" i="0" lang="en-US" sz="1350" u="none" cap="none" strike="noStrike">
                <a:solidFill>
                  <a:srgbClr val="78716C"/>
                </a:solidFill>
                <a:latin typeface="Inter"/>
                <a:ea typeface="Inter"/>
                <a:cs typeface="Inter"/>
                <a:sym typeface="Inter"/>
              </a:rPr>
              <a:t> Group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9052" y="6134111"/>
            <a:ext cx="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>
            <a:off x="762000" y="2894558"/>
            <a:ext cx="10668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62000" y="382800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62000" y="382800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1857375" y="3456533"/>
            <a:ext cx="957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https://vocus.cc/article/683a92abfd897800013366ca</a:t>
            </a:r>
            <a:endParaRPr/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804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1857375" y="4220914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www.starbackdrops.com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513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IMAGE SOURCES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FF5A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0" y="3068588"/>
            <a:ext cx="857249" cy="5723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10820400" y="6134100"/>
            <a:ext cx="688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Slide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 </a:t>
            </a:r>
            <a:r>
              <a:rPr b="0" i="0" lang="en-US" sz="975" u="none" cap="none" strike="noStrike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/ </a:t>
            </a:r>
            <a:r>
              <a:rPr lang="en-US" sz="975">
                <a:solidFill>
                  <a:srgbClr val="78716C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719052" y="6134111"/>
            <a:ext cx="75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Port</a:t>
            </a:r>
            <a:r>
              <a:rPr lang="en-US" sz="975">
                <a:solidFill>
                  <a:srgbClr val="FF5A1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